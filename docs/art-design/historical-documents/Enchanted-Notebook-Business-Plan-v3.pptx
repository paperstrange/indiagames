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8a7ec7f7e748a9" /><Relationship Type="http://schemas.openxmlformats.org/officeDocument/2006/relationships/extended-properties" Target="/docProps/app.xml" Id="R361defbceb2c4edc" /><Relationship Type="http://schemas.openxmlformats.org/officeDocument/2006/relationships/officeDocument" Target="/ppt/presentation.xml" Id="R3edcc9611cd44f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719747e6f94719"/>
  </p:sldMasterIdLst>
  <p:notesMasterIdLst>
    <p:notesMasterId xmlns:r="http://schemas.openxmlformats.org/officeDocument/2006/relationships" r:id="Rb122dd6e4d47491b"/>
  </p:notesMasterIdLst>
  <p:sldIdLst>
    <p:sldId xmlns:r="http://schemas.openxmlformats.org/officeDocument/2006/relationships" id="256" r:id="R32bc519ea8cb47df"/>
    <p:sldId xmlns:r="http://schemas.openxmlformats.org/officeDocument/2006/relationships" id="257" r:id="R0fb8a5fcf1fd420c"/>
    <p:sldId xmlns:r="http://schemas.openxmlformats.org/officeDocument/2006/relationships" id="258" r:id="R01badc8583564034"/>
    <p:sldId xmlns:r="http://schemas.openxmlformats.org/officeDocument/2006/relationships" id="259" r:id="Rf328571525384f3f"/>
    <p:sldId xmlns:r="http://schemas.openxmlformats.org/officeDocument/2006/relationships" id="260" r:id="R9f7445e4d3ed43ff"/>
    <p:sldId xmlns:r="http://schemas.openxmlformats.org/officeDocument/2006/relationships" id="261" r:id="R71b1d33030b84531"/>
    <p:sldId xmlns:r="http://schemas.openxmlformats.org/officeDocument/2006/relationships" id="262" r:id="Rf258cd5fb8e44225"/>
    <p:sldId xmlns:r="http://schemas.openxmlformats.org/officeDocument/2006/relationships" id="263" r:id="Re6d6d560b5df4a50"/>
    <p:sldId xmlns:r="http://schemas.openxmlformats.org/officeDocument/2006/relationships" id="264" r:id="R1ba78f112297499e"/>
    <p:sldId xmlns:r="http://schemas.openxmlformats.org/officeDocument/2006/relationships" id="265" r:id="Rcdea899f0e484698"/>
    <p:sldId xmlns:r="http://schemas.openxmlformats.org/officeDocument/2006/relationships" id="266" r:id="Rb52b88883e4a43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24393418da42b9" /><Relationship Type="http://schemas.openxmlformats.org/officeDocument/2006/relationships/slideMaster" Target="/ppt/slideMasters/slideMaster1.xml" Id="R2d719747e6f94719" /><Relationship Type="http://schemas.openxmlformats.org/officeDocument/2006/relationships/notesMaster" Target="/ppt/notesMasters/notesMaster1.xml" Id="Rb122dd6e4d47491b" /><Relationship Type="http://schemas.openxmlformats.org/officeDocument/2006/relationships/presProps" Target="/ppt/presProps.xml" Id="R7391573c70dc4825" /><Relationship Type="http://schemas.openxmlformats.org/officeDocument/2006/relationships/tableStyles" Target="/ppt/tableStyles.xml" Id="R24a5dcd6a24b44c5" /><Relationship Type="http://schemas.openxmlformats.org/officeDocument/2006/relationships/slide" Target="/ppt/slides/slide1.xml" Id="R32bc519ea8cb47df" /><Relationship Type="http://schemas.openxmlformats.org/officeDocument/2006/relationships/slide" Target="/ppt/slides/slide2.xml" Id="R0fb8a5fcf1fd420c" /><Relationship Type="http://schemas.openxmlformats.org/officeDocument/2006/relationships/slide" Target="/ppt/slides/slide3.xml" Id="R01badc8583564034" /><Relationship Type="http://schemas.openxmlformats.org/officeDocument/2006/relationships/slide" Target="/ppt/slides/slide4.xml" Id="Rf328571525384f3f" /><Relationship Type="http://schemas.openxmlformats.org/officeDocument/2006/relationships/slide" Target="/ppt/slides/slide5.xml" Id="R9f7445e4d3ed43ff" /><Relationship Type="http://schemas.openxmlformats.org/officeDocument/2006/relationships/slide" Target="/ppt/slides/slide6.xml" Id="R71b1d33030b84531" /><Relationship Type="http://schemas.openxmlformats.org/officeDocument/2006/relationships/slide" Target="/ppt/slides/slide7.xml" Id="Rf258cd5fb8e44225" /><Relationship Type="http://schemas.openxmlformats.org/officeDocument/2006/relationships/slide" Target="/ppt/slides/slide8.xml" Id="Re6d6d560b5df4a50" /><Relationship Type="http://schemas.openxmlformats.org/officeDocument/2006/relationships/slide" Target="/ppt/slides/slide9.xml" Id="R1ba78f112297499e" /><Relationship Type="http://schemas.openxmlformats.org/officeDocument/2006/relationships/slide" Target="/ppt/slides/slide10.xml" Id="Rcdea899f0e484698" /><Relationship Type="http://schemas.openxmlformats.org/officeDocument/2006/relationships/slide" Target="/ppt/slides/slide11.xml" Id="Rb52b88883e4a43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d535afd9834a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1ea9bde86f4ced" /><Relationship Type="http://schemas.openxmlformats.org/officeDocument/2006/relationships/notesMaster" Target="/ppt/notesMasters/notesMaster1.xml" Id="R3d3deb06698843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7f7bc53ee146f8" /><Relationship Type="http://schemas.openxmlformats.org/officeDocument/2006/relationships/notesMaster" Target="/ppt/notesMasters/notesMaster1.xml" Id="Rf34a1e5be54647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a1c9146bc84df3" /><Relationship Type="http://schemas.openxmlformats.org/officeDocument/2006/relationships/notesMaster" Target="/ppt/notesMasters/notesMaster1.xml" Id="R86db7dbd385645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f7ddb375fd4002" /><Relationship Type="http://schemas.openxmlformats.org/officeDocument/2006/relationships/notesMaster" Target="/ppt/notesMasters/notesMaster1.xml" Id="Rd2599ebe7c594c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f25fda62b8442b" /><Relationship Type="http://schemas.openxmlformats.org/officeDocument/2006/relationships/notesMaster" Target="/ppt/notesMasters/notesMaster1.xml" Id="R43217f6cc9e047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f3b5f43db3499c" /><Relationship Type="http://schemas.openxmlformats.org/officeDocument/2006/relationships/notesMaster" Target="/ppt/notesMasters/notesMaster1.xml" Id="R365c994f80a743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5aa97bfd414ddb" /><Relationship Type="http://schemas.openxmlformats.org/officeDocument/2006/relationships/notesMaster" Target="/ppt/notesMasters/notesMaster1.xml" Id="Rcf66c64c9d9243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1ca27d91e84cb4" /><Relationship Type="http://schemas.openxmlformats.org/officeDocument/2006/relationships/notesMaster" Target="/ppt/notesMasters/notesMaster1.xml" Id="R8e91de9378b54f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522659d8cc4635" /><Relationship Type="http://schemas.openxmlformats.org/officeDocument/2006/relationships/notesMaster" Target="/ppt/notesMasters/notesMaster1.xml" Id="R4542ab82a08140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ad8b66fb124e17" /><Relationship Type="http://schemas.openxmlformats.org/officeDocument/2006/relationships/notesMaster" Target="/ppt/notesMasters/notesMaster1.xml" Id="R05f9862134494d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8b5dba04b54e20" /><Relationship Type="http://schemas.openxmlformats.org/officeDocument/2006/relationships/notesMaster" Target="/ppt/notesMasters/notesMaster1.xml" Id="R1457c149e28546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Build Interactive Demo alpha 0.3 screenshot at /workspace/scratch/8f4a6e16de47/recovered/public/demo/alpha-0.3.jpg</a:t>
            </a:r>
          </a:p>
          <a:p xmlns:a="http://schemas.openxmlformats.org/drawingml/2006/main">
            <a:r>
              <a:t>Live product tour: https://enchanted-notebook-sakura.sakuraasuna.chatgpt.site/demo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Analytical framing based on the product architecture and companion integration contract in ARCHITECTURE.MD, COMPANION_INTEGRATION.md, and COMPANION_PROFILES.md.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alpha 0.3 product implementation and MEMORY&amp;LEARNED.MD. The product loop is write, pause, respond, keep.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COMPANION_PROFILES.md, COMPANION_INTEGRATION.md, and companion_profiles.json. Portraits are supplied project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2026-09-11:</a:t>
            </a:r>
          </a:p>
          <a:p xmlns:a="http://schemas.openxmlformats.org/drawingml/2006/main">
            <a:r>
              <a:t>Goodnotes, “Plans, Pricing &amp; Free Trial,” https://www.goodnotes.com/pricing (Pro $35.99/year; Teams $120/seat/year; AI Pass listed separately).</a:t>
            </a:r>
          </a:p>
          <a:p xmlns:a="http://schemas.openxmlformats.org/drawingml/2006/main">
            <a:r>
              <a:t>Notability, “Plans tailored to you,” https://notability.com/pricing (Plus $15.99/year; Pro $79.99/year; Business $60/user/year).</a:t>
            </a:r>
          </a:p>
          <a:p xmlns:a="http://schemas.openxmlformats.org/drawingml/2006/main">
            <a:r>
              <a:t>Reflect, product page, https://reflect.app/ ($10/month billed annually, equivalent to $120/year).</a:t>
            </a:r>
          </a:p>
          <a:p xmlns:a="http://schemas.openxmlformats.org/drawingml/2006/main">
            <a:r>
              <a:t>Day One, “Choose a Day One Plan,” https://dayoneapp.com/plans/ (Gold $74.99/year).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Category descriptions grounded in official product pages:</a:t>
            </a:r>
          </a:p>
          <a:p xmlns:a="http://schemas.openxmlformats.org/drawingml/2006/main">
            <a:r>
              <a:t>Goodnotes: https://www.goodnotes.com/pricing</a:t>
            </a:r>
          </a:p>
          <a:p xmlns:a="http://schemas.openxmlformats.org/drawingml/2006/main">
            <a:r>
              <a:t>Notability: https://notability.com/pricing</a:t>
            </a:r>
          </a:p>
          <a:p xmlns:a="http://schemas.openxmlformats.org/drawingml/2006/main">
            <a:r>
              <a:t>Reflect: https://reflect.app/</a:t>
            </a:r>
          </a:p>
          <a:p xmlns:a="http://schemas.openxmlformats.org/drawingml/2006/main">
            <a:r>
              <a:t>Day One: https://dayoneapp.com/plans/</a:t>
            </a:r>
          </a:p>
          <a:p xmlns:a="http://schemas.openxmlformats.org/drawingml/2006/main">
            <a:r>
              <a:t>Enchanted Notebook positioning is an analytical product hypothesis based on the project architecture and interaction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Segment sequence is a product hypothesis for investor discussion, not a reported market fact. It follows the current alpha 0.3 surface and the companion profile best-for matrix.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Pricing architecture is a product hypothesis informed by observed adjacent annual tiers on Goodnotes, Notability, Reflect, and Day One. It is not a proposed final price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ARCHITECTURE.MD, WORKFLOW.MD, MEMORY&amp;LEARNED.MD, and COMPANION_INTEGRATION.md. Roadmap items labeled NEXT and THEN are proposed seams, not completed functionality.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proof surface: https://enchanted-notebook-sakura.sakuraasuna.chatgpt.site/demo</a:t>
            </a:r>
          </a:p>
          <a:p xmlns:a="http://schemas.openxmlformats.org/drawingml/2006/main">
            <a:r>
              <a:t>Validation questions are proposed for the next product milestone.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market URLs:</a:t>
            </a:r>
          </a:p>
          <a:p xmlns:a="http://schemas.openxmlformats.org/drawingml/2006/main">
            <a:r>
              <a:t>https://www.goodnotes.com/pricing</a:t>
            </a:r>
          </a:p>
          <a:p xmlns:a="http://schemas.openxmlformats.org/drawingml/2006/main">
            <a:r>
              <a:t>https://notability.com/pricing</a:t>
            </a:r>
          </a:p>
          <a:p xmlns:a="http://schemas.openxmlformats.org/drawingml/2006/main">
            <a:r>
              <a:t>https://reflect.app/</a:t>
            </a:r>
          </a:p>
          <a:p xmlns:a="http://schemas.openxmlformats.org/drawingml/2006/main">
            <a:r>
              <a:t>https://dayoneapp.com/plans/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artifacts: /workspace/scratch/8f4a6e16de47/project_sources/04-ARCHITECTURE.MD, 05-WORKFLOW.MD, 03-MEMORY-LEARNED.MD, 09-COMPANION_INTEGRATION.md, 10-COMPANION_PROFILES.md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418ba1bce4e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071be265524364" /><Relationship Type="http://schemas.openxmlformats.org/officeDocument/2006/relationships/slideLayout" Target="/ppt/slideLayouts/slideLayout1.xml" Id="R1317576429f447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17576429f447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ea0f5faa249a0" /><Relationship Type="http://schemas.openxmlformats.org/officeDocument/2006/relationships/hyperlink" Target="https://enchanted-notebook-sakura.sakuraasuna.chatgpt.site/demo" TargetMode="External" Id="R55d30c3481cf41af" /><Relationship Type="http://schemas.openxmlformats.org/officeDocument/2006/relationships/image" Target="/ppt/media/image.jpeg" Id="R3a4e9ac4a23e4e7a" /><Relationship Type="http://schemas.openxmlformats.org/officeDocument/2006/relationships/notesSlide" Target="/ppt/notesSlides/notesSlide1.xml" Id="R84eb6120c52c43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1e98a8976417c" /><Relationship Type="http://schemas.openxmlformats.org/officeDocument/2006/relationships/notesSlide" Target="/ppt/notesSlides/notesSlide2.xml" Id="R2773c9e265c04f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8bf8d252c49d1" /><Relationship Type="http://schemas.openxmlformats.org/officeDocument/2006/relationships/image" Target="/ppt/media/image2.jpeg" Id="R70146fabe09d4651" /><Relationship Type="http://schemas.openxmlformats.org/officeDocument/2006/relationships/hyperlink" Target="https://enchanted-notebook-sakura.sakuraasuna.chatgpt.site/demo/clip" TargetMode="External" Id="R424625f986bb438f" /><Relationship Type="http://schemas.openxmlformats.org/officeDocument/2006/relationships/notesSlide" Target="/ppt/notesSlides/notesSlide3.xml" Id="R8b6c3174871e41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d3be02d8244af" /><Relationship Type="http://schemas.openxmlformats.org/officeDocument/2006/relationships/image" Target="/ppt/media/image.png" Id="Racd04f3c4c554d21" /><Relationship Type="http://schemas.openxmlformats.org/officeDocument/2006/relationships/image" Target="/ppt/media/image2.png" Id="R43f4ac37f3c3427c" /><Relationship Type="http://schemas.openxmlformats.org/officeDocument/2006/relationships/image" Target="/ppt/media/image3.png" Id="Ra1ed144560904306" /><Relationship Type="http://schemas.openxmlformats.org/officeDocument/2006/relationships/notesSlide" Target="/ppt/notesSlides/notesSlide4.xml" Id="R8ec3833f2fdd4f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4f0b94e0a473e" /><Relationship Type="http://schemas.openxmlformats.org/officeDocument/2006/relationships/notesSlide" Target="/ppt/notesSlides/notesSlide5.xml" Id="Re1969755120c48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8143a22484ce9" /><Relationship Type="http://schemas.openxmlformats.org/officeDocument/2006/relationships/notesSlide" Target="/ppt/notesSlides/notesSlide6.xml" Id="R248e1252133149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84ae07b9844d6" /><Relationship Type="http://schemas.openxmlformats.org/officeDocument/2006/relationships/notesSlide" Target="/ppt/notesSlides/notesSlide7.xml" Id="Rf0f463b9a3df40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cf9f307c44723" /><Relationship Type="http://schemas.openxmlformats.org/officeDocument/2006/relationships/notesSlide" Target="/ppt/notesSlides/notesSlide8.xml" Id="Rf6085baf3f834a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946f217814e9e" /><Relationship Type="http://schemas.openxmlformats.org/officeDocument/2006/relationships/notesSlide" Target="/ppt/notesSlides/notesSlide9.xml" Id="Ra573b921638348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c05f40d704978" /><Relationship Type="http://schemas.openxmlformats.org/officeDocument/2006/relationships/hyperlink" Target="https://enchanted-notebook-sakura.sakuraasuna.chatgpt.site/demo" TargetMode="External" Id="Ra5da768d9e384c79" /><Relationship Type="http://schemas.openxmlformats.org/officeDocument/2006/relationships/notesSlide" Target="/ppt/notesSlides/notesSlide10.xml" Id="Rc32b083a11ad46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18b54a12b4c4f" /><Relationship Type="http://schemas.openxmlformats.org/officeDocument/2006/relationships/hyperlink" Target="https://www.goodnotes.com/pricing" TargetMode="External" Id="Ra7c3f363fb044cb0" /><Relationship Type="http://schemas.openxmlformats.org/officeDocument/2006/relationships/hyperlink" Target="https://notability.com/pricing" TargetMode="External" Id="R1b67c08b5e124c22" /><Relationship Type="http://schemas.openxmlformats.org/officeDocument/2006/relationships/hyperlink" Target="https://reflect.app/" TargetMode="External" Id="Rf45b6619dbdb41dc" /><Relationship Type="http://schemas.openxmlformats.org/officeDocument/2006/relationships/hyperlink" Target="https://dayoneapp.com/plans/" TargetMode="External" Id="R8bb04924620d43d4" /><Relationship Type="http://schemas.openxmlformats.org/officeDocument/2006/relationships/notesSlide" Target="/ppt/notesSlides/notesSlide11.xml" Id="Rc5f47342d57340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CC8FE-23BC-4DAD-92AF-DC47C6D2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F06D8-416D-4FC2-9F47-FC6AAD1B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86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02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07EAE-9153-462F-B4F8-04748B14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762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B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0AF91-1BBF-457E-A5B6-964BF462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0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BUSINESS PLAN / INVESTOR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CCA7C-A8A2-4ACC-A798-CEAA09D1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28700"/>
            <a:ext cx="5048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Enchanted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Notebook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1A591-75BF-44E0-B625-2D6BAF22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4048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3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rPr>
              <a:t>An AI-native handwritten workspace for learning, reflection, and creative planning.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1DDD1-06AF-417B-98D8-5EA7F36E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The product wedge is simple: make the page more useful without taking the page away.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9F06A-9024-4730-8D6B-1027F4DA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22860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D9E3B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CA843-B6A6-41E6-A647-7C966571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07682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OPEN THE PRODUCT TOUR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D8920-62AD-4DC5-A1DC-4A790AA2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388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  <a:hlinkClick xmlns:r="http://schemas.openxmlformats.org/officeDocument/2006/relationships" r:id="R55d30c3481cf41af"/>
              </a:rPr>
              <a:t>https://enchanted-notebook-sakura.sakuraasuna.chatgpt.site/demo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e9ac4a23e4e7a"/>
          <a:srcRect xmlns:a="http://schemas.openxmlformats.org/drawingml/2006/main" l="18750" t="0" r="18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752475"/>
            <a:ext cx="4953000" cy="4953000"/>
          </a:xfrm>
          <a:prstGeom xmlns:a="http://schemas.openxmlformats.org/drawingml/2006/main" prst="roundRect">
            <a:avLst>
              <a:gd name="adj" fmla="val 3462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373535-AB83-4DC4-9B3A-D4525A3C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19700"/>
            <a:ext cx="2876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2D">
              <a:alpha val="86667"/>
            </a:srgbClr>
          </a:solidFill>
          <a:ln xmlns:a="http://schemas.openxmlformats.org/drawingml/2006/main" w="9525">
            <a:solidFill>
              <a:srgbClr val="90A97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40720-0D5E-49A2-B752-58FE0372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372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PRODUCT WEDGE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31147-8CE3-4408-A317-6E3094B7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600700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ink + companion + memory</a:t>
            </a:r>
          </a:p>
        </p:txBody>
      </p:sp>
    </p:spTree>
    <p:extLst>
      <p:ext uri="{BB962C8B-B14F-4D97-AF65-F5344CB8AC3E}">
        <p14:creationId xmlns:p14="http://schemas.microsoft.com/office/powerpoint/2010/main" val="17299826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EC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BAC25-C304-4CEF-81D2-840B9233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002C7-F596-41FA-8D7B-9DB06423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8231F-80F6-4971-B8E8-B73C3DCA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The note is captured. The next move is still scattered.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FED3C-F445-44ED-AA7B-330B06A3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Handwriting apps, AI note assistants, and journaling products each solve part of the job. Users still move between surfaces when a thought needs context, a source needs checking, or a plan needs a response.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42468-E411-4172-9B9E-DD0254C9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3067050" cy="15621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9A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BAA99-C8F4-4AE3-9B28-702C0E29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3067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B6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8A68C-7A94-4177-B0C1-1B36AD58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B8FE4-0753-437F-9D90-A7FA96D7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90925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Write by hand, type, clip, or annotate.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5B27F-2F0B-488F-A4F3-E9A5ADC7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D9A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D9AB6B"/>
                </a:solidFill>
                <a:latin typeface="Bitstream Charter"/>
                <a:ea typeface="Bitstream Charter"/>
                <a:cs typeface="Bitstream Charter"/>
              </a:rPr>
              <a:t>existing strength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31AA4-AC4B-4CC9-97B2-A7048C9A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95600"/>
            <a:ext cx="3067050" cy="15621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9A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E4518-651A-465E-8152-75BCC5A8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95600"/>
            <a:ext cx="3067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B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F087F-05D1-4A97-82D5-7D9492F4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81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UNDERSTAND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E37F7-A26C-4443-949C-22695B18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90925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Ask for structure, explanation, or a source.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DDFCD-E214-4CEE-A887-FF746158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52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E5B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6E5B91"/>
                </a:solidFill>
                <a:latin typeface="Bitstream Charter"/>
                <a:ea typeface="Bitstream Charter"/>
                <a:cs typeface="Bitstream Charter"/>
              </a:rPr>
              <a:t>new expectation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30246-19D2-450C-BC45-04CCDF67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3067050" cy="15621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9A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356C5-A2AF-496B-B61B-DE14EE83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3067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33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DE64C2-56C7-4D89-B13D-BC4A13A6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81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CONTINUE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B65A4-88E0-4226-B24E-B0D73474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90925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Return to the thought with memory and a next step.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324A9-5FE7-43FF-8048-2F668DFA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52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743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74333"/>
                </a:solidFill>
                <a:latin typeface="Bitstream Charter"/>
                <a:ea typeface="Bitstream Charter"/>
                <a:cs typeface="Bitstream Charter"/>
              </a:rPr>
              <a:t>unmet continuity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A4D72-6CB0-4289-B716-0F596151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489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DCE4B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723B6-16EC-4C90-8B12-FA2B974F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Business thesis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60E31-2716-460C-84EE-79772E47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334000"/>
            <a:ext cx="833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rPr>
              <a:t>Own the transition from a handwritten thought to an inspectable, useful continuation.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023EEB-ABB6-41AA-9FC8-1BA433B8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ENCHANTED NOTEBOOK  /  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A34C8B-4EFA-4693-8C62-6305A163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86525"/>
            <a:ext cx="2124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BUSINESS PLAN / ALPHA 0.3</a:t>
            </a:r>
          </a:p>
        </p:txBody>
      </p:sp>
    </p:spTree>
    <p:extLst>
      <p:ext uri="{BB962C8B-B14F-4D97-AF65-F5344CB8AC3E}">
        <p14:creationId xmlns:p14="http://schemas.microsoft.com/office/powerpoint/2010/main" val="217816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90F681-371E-4D9F-87FF-95DE3AB7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3875E-0812-438F-AC0E-F844F508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PRODUCT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8DB45-F3EB-47E8-B5AF-FDC98042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8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The working loop is the product advantage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D0F80-3CBB-4A34-9545-A0FF583D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7429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The alpha already demonstrates a coherent interaction contract. A user can write immediately, wait for a response, and continue with the original source intact.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46fabe09d4651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457450"/>
            <a:ext cx="5048250" cy="314325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BAD47-3270-427F-B21C-12DB4B3D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9525">
            <a:solidFill>
              <a:srgbClr val="66805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A67C1-80D4-409C-A1E1-E74A1AEF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B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E4FC2-B154-4834-A581-2AF74CBE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19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WRITE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91A84-DCC4-4D47-A8B6-6A761954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71825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ink appears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81A0F-D4A8-48CC-A5B4-F632A3E3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289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9525">
            <a:solidFill>
              <a:srgbClr val="66805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8FABF-6BE8-41D6-81C1-2EDF9898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28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78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F5853-4DAF-4E4F-A657-8150514D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PAUSE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2A167-6FCB-4235-9188-1FC8ABA2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71825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work can wait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7250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49B75"/>
            </a:solidFill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2894E-99C3-4809-B3C3-032AA8A8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9525">
            <a:solidFill>
              <a:srgbClr val="66805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1EA12-18C6-4A30-A08A-66628A60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B9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07AFD-7079-495C-A2FE-29B19215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910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REPLY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4E0B3-3890-4B67-B170-F22B7AB7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43425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meaning arrives in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A6443-6D3B-4DAE-AC12-C14BBBFD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9525">
            <a:solidFill>
              <a:srgbClr val="66805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D98E5-7411-4103-970B-1D263CD4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B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C2793-6139-4C94-87CA-10CD6A71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910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KEEP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48FA7-BC4A-45E9-8005-27384F37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43425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source stays reversible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75051B-20FF-4258-8E22-A336F4D4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62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  <a:hlinkClick xmlns:r="http://schemas.openxmlformats.org/officeDocument/2006/relationships" r:id="R424625f986bb438f"/>
              </a:rPr>
              <a:t>Watch the product clip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AE3FB5-8729-4894-863A-75D8C31A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ENCHANTED NOTEBOOK  /  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488DA5-D9E3-4AB4-B428-0E88F197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86525"/>
            <a:ext cx="2124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BUSINESS PLAN / ALPHA 0.3</a:t>
            </a:r>
          </a:p>
        </p:txBody>
      </p:sp>
    </p:spTree>
    <p:extLst>
      <p:ext uri="{BB962C8B-B14F-4D97-AF65-F5344CB8AC3E}">
        <p14:creationId xmlns:p14="http://schemas.microsoft.com/office/powerpoint/2010/main" val="6993824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EC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A52965-0A05-4EF5-9400-8B3589D5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10B96-D842-4977-9B39-E906AE17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CREATIVE DIFFERENTIATION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9550F-C70C-40A9-8709-8406ABF0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Companionship belongs in the margin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3818E-4216-4E88-8E06-5C82E35B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The companion is a persistent identity inside the notebook, not a chat tab. It can teach, challenge, map, or spark a new branch while the user remains the protagonist.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EEE8A-5578-4792-A8DD-6F29A9E0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57175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9525">
            <a:solidFill>
              <a:srgbClr val="668054"/>
            </a:solidFill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04f3c4c554d21"/>
          <a:srcRect xmlns:a="http://schemas.openxmlformats.org/drawingml/2006/main" l="26991" t="0" r="269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2800350"/>
            <a:ext cx="990600" cy="2152650"/>
          </a:xfrm>
          <a:prstGeom xmlns:a="http://schemas.openxmlformats.org/drawingml/2006/main" prst="roundRect">
            <a:avLst>
              <a:gd name="adj" fmla="val 576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71231-94DA-4C5B-BC3B-15A77F9D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670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Mara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5FCCE-6B58-412A-AC0B-0260E2E5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1076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ground the next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862EF-B4C9-4532-BE09-F37037B4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577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voice + placement +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B16F4-349B-44A6-B05C-99A2FE76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86050"/>
            <a:ext cx="257175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9525">
            <a:solidFill>
              <a:srgbClr val="668054"/>
            </a:solidFill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4ac37f3c3427c"/>
          <a:srcRect xmlns:a="http://schemas.openxmlformats.org/drawingml/2006/main" l="26991" t="0" r="269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67150" y="2800350"/>
            <a:ext cx="990600" cy="2152650"/>
          </a:xfrm>
          <a:prstGeom xmlns:a="http://schemas.openxmlformats.org/drawingml/2006/main" prst="roundRect">
            <a:avLst>
              <a:gd name="adj" fmla="val 5769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E2936-264E-4D62-966E-FAA2F051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670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Cassian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EC3A2-3515-46A5-814A-80B0511E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86150"/>
            <a:ext cx="1076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map the trade-offs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5C35A-F423-4C1D-A89E-B6D1A2EC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577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voice + placement +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64BCA-D1B1-4C8E-B698-48854659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86050"/>
            <a:ext cx="257175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9525">
            <a:solidFill>
              <a:srgbClr val="668054"/>
            </a:solidFill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d144560904306"/>
          <a:srcRect xmlns:a="http://schemas.openxmlformats.org/drawingml/2006/main" l="26991" t="0" r="269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2800350"/>
            <a:ext cx="990600" cy="2152650"/>
          </a:xfrm>
          <a:prstGeom xmlns:a="http://schemas.openxmlformats.org/drawingml/2006/main" prst="roundRect">
            <a:avLst>
              <a:gd name="adj" fmla="val 5769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4834B-1C7C-4F34-B4FA-55CF00A9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Mira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11379-52E8-4522-96F3-1AC4496D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1076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open a creative door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2B831-4F00-4B7D-A4FC-20BA11E3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voice + placement +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51840B-F9F5-40A5-B042-3D1E5412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85725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CE4B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E989A-9EBB-4ABB-ADCD-7FE9B06B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483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Defensible design choice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0702B0-D850-44DE-9D62-C67E9DDF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197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rPr>
              <a:t>The renderer owns the page. Providers return intent and semantic placement, not a foreign visual layer.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22BC3C-EEDE-48B6-B860-293617C3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ENCHANTED NOTEBOOK  /  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F7962-D054-470A-938C-2D04728A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86525"/>
            <a:ext cx="2124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BUSINESS PLAN / ALPHA 0.3</a:t>
            </a:r>
          </a:p>
        </p:txBody>
      </p:sp>
    </p:spTree>
    <p:extLst>
      <p:ext uri="{BB962C8B-B14F-4D97-AF65-F5344CB8AC3E}">
        <p14:creationId xmlns:p14="http://schemas.microsoft.com/office/powerpoint/2010/main" val="321388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DF9E84-46C3-4DC8-898E-45F6BD0A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3C790-E06C-45E5-AFB2-F4E7500F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MARKET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17B04-2CCD-4960-9666-0B58BE54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Adjacent products already monetize the 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6806B-7902-4ACB-A071-8A090ADC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Selected annual price points show willingness to pay for handwriting, AI assistance, secure memory, and media-rich reflection. These are category signals, not a market-size estimate.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9DF21-9FAA-4929-911F-9CC896A1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Goodnotes 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C2410-59BC-40BA-990B-9A6A44A9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42862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67DA0-D3FA-425B-8A7C-9E52621F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1101872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AB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5F41D-5BBA-44DB-A880-24FC7492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7051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rPr>
              <a:t>$35.99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B1C2B-8F5F-4164-9669-A8D05286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623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Notability Pro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34717-87F8-446F-A5A2-C3CE1767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14700"/>
            <a:ext cx="42862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B6830-AD16-4803-B035-9897DD13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14700"/>
            <a:ext cx="244898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B378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C7714-CCD5-4588-BA1E-48F73A6D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3528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rPr>
              <a:t>$79.99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F2649-57BF-483A-AFFF-E5DCDF96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Reflect annualized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0461E-5DE3-42E4-8EDB-126F1803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62400"/>
            <a:ext cx="42862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3FAA6-981D-453A-9347-F1876E96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62400"/>
            <a:ext cx="3673929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6E5B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9CCC1-6D1D-41EF-B220-5BCA3462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0005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rPr>
              <a:t>$120.00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B2831-6D3D-4F1E-ABC4-EC2DBB9F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Day One Gold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7E661-4360-435D-95CC-F8310CBC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10100"/>
            <a:ext cx="42862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32726-55D8-410F-9649-4A9FA7D0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10100"/>
            <a:ext cx="2295899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E3B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86425A-4BCD-4DC8-8BEB-650CF224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6482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rPr>
              <a:t>$74.99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99956-78E2-4AE2-841B-DAB9C7DE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28900"/>
            <a:ext cx="3086100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9525">
            <a:solidFill>
              <a:srgbClr val="66805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FBFB3C-08B8-4A28-9696-5FCADA58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What the signal says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34954-8AE6-424B-829A-D0A766D9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8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The category supports a freemium path with paid AI or memory depth.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Our opening wedge can price for continuity and trust, then expand into education and teams after the core loop retains users.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C03A9A-77CE-45D9-B416-13A0CCCA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14900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Observed plans / USD per year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747F3-4C61-4FA2-9D52-E6F40125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ENCHANTED NOTEBOOK  /  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C1177B-B359-469C-A46C-8EE815E2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86525"/>
            <a:ext cx="2124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BUSINESS PLAN / ALPHA 0.3</a:t>
            </a:r>
          </a:p>
        </p:txBody>
      </p:sp>
    </p:spTree>
    <p:extLst>
      <p:ext uri="{BB962C8B-B14F-4D97-AF65-F5344CB8AC3E}">
        <p14:creationId xmlns:p14="http://schemas.microsoft.com/office/powerpoint/2010/main" val="1304763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EC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6B6878-621E-49D6-AA2C-D2EE574F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87914-E22D-4D5F-B686-DB8189BD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6930A-ADE4-41B5-8F9D-A0AC69F6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A focused wedge between four familiar categories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0F5CE-FEE8-4B5E-B804-80156919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We are not competing on every note feature. We are combining the strongest expectations of adjacent products around one distinctive surface.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D4E6E-7184-45F6-976E-49732161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620375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9A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F08EF-B7B0-4696-9C8F-EAB1E647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908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Handwriting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FE6F9-4124-4FF7-9E42-DD797E44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90825"/>
            <a:ext cx="461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natural capture + PDF markup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6885D-B53A-4BBF-BF84-2E9E56A3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90825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7D8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>
                <a:solidFill>
                  <a:srgbClr val="7D8B78"/>
                </a:solidFill>
                <a:latin typeface="Bitstream Charter"/>
                <a:ea typeface="Bitstream Charter"/>
                <a:cs typeface="Bitstream Charter"/>
              </a:rPr>
              <a:t>Goodnotes / Notability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7D464-75D1-4940-8B11-A8EB24FD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620375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9A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CB6BB-201E-4B33-BA86-4CC1964E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956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AI knowledge 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15F10-1EE7-4824-8446-2ADB5B11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95675"/>
            <a:ext cx="461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search + assistant + connections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A23B3-E603-4D30-A4E1-AF1CA76F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95675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7D8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>
                <a:solidFill>
                  <a:srgbClr val="7D8B78"/>
                </a:solidFill>
                <a:latin typeface="Bitstream Charter"/>
                <a:ea typeface="Bitstream Charter"/>
                <a:cs typeface="Bitstream Charter"/>
              </a:rPr>
              <a:t>Reflect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0CF5D-F054-4A04-B6EF-413D4C95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620375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9A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8AAA5-3CBF-4D5F-997C-657CA286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Journaling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DFF96-2CBF-4130-AE6D-F15A4FA5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00525"/>
            <a:ext cx="461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secure memory + media + prompts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5193C-914B-4478-92D0-862978BC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00525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7D8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>
                <a:solidFill>
                  <a:srgbClr val="7D8B78"/>
                </a:solidFill>
                <a:latin typeface="Bitstream Charter"/>
                <a:ea typeface="Bitstream Charter"/>
                <a:cs typeface="Bitstream Charter"/>
              </a:rPr>
              <a:t>Day 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8527B-7D34-4068-A606-BF915E09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620375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03227"/>
          </a:solidFill>
          <a:ln xmlns:a="http://schemas.openxmlformats.org/drawingml/2006/main" w="9525">
            <a:solidFill>
              <a:srgbClr val="20322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BBC6A-84D2-47E6-B211-4BF558E7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rPr>
              <a:t>Enchanted Notebook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77D479-1D6E-4EB2-A0FE-1A39D7CD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05375"/>
            <a:ext cx="461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source-preserving companion on the page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66BE7-6C1D-4327-900E-7BCBFC84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05375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D9A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>
                <a:solidFill>
                  <a:srgbClr val="D9AB6B"/>
                </a:solidFill>
                <a:latin typeface="Bitstream Charter"/>
                <a:ea typeface="Bitstream Charter"/>
                <a:cs typeface="Bitstream Charter"/>
              </a:rPr>
              <a:t>our wedge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2D1502-976B-4919-A2E6-F57754D6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ENCHANTED NOTEBOOK  /  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1ABDB2-0D7C-44E4-89D0-E2B49CFD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86525"/>
            <a:ext cx="2124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BUSINESS PLAN / ALPHA 0.3</a:t>
            </a:r>
          </a:p>
        </p:txBody>
      </p:sp>
    </p:spTree>
    <p:extLst>
      <p:ext uri="{BB962C8B-B14F-4D97-AF65-F5344CB8AC3E}">
        <p14:creationId xmlns:p14="http://schemas.microsoft.com/office/powerpoint/2010/main" val="9610948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34FCF0-6417-4B54-BB2F-467EF511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30922-2E9F-4C8C-8AB8-B708E0A1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COMMERCIAL WEDGE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B869C-B57E-475B-8D8A-D50F04E3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Start where the page already has a 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3999A-1BF9-4139-9417-C58BF5FD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The first buyer does not need an entire world simulation. They need a trusted writing surface that makes a recurring kind of work feel lighter.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99402-7627-4E16-B0E3-226E847E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086100" cy="2324100"/>
          </a:xfrm>
          <a:prstGeom xmlns:a="http://schemas.openxmlformats.org/drawingml/2006/main" prst="roundRect">
            <a:avLst>
              <a:gd name="adj" fmla="val 3689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9525">
            <a:solidFill>
              <a:srgbClr val="6680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7B01B-2398-4518-9DFD-141E2C00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086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B6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C4148-2283-4720-8214-F11A8BA5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432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Beachhead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41087-524B-4E95-9F41-FEDC26E1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Reflective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48B46-28A4-46F4-BC4A-70BDECFA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9525"/>
            <a:ext cx="2609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Students, independent learners, and people who already annotate by hand. Paid value: continuity, guided review, and source-linked memory.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4D295-316E-4CC8-A7AE-275B982A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67000"/>
            <a:ext cx="3086100" cy="2324100"/>
          </a:xfrm>
          <a:prstGeom xmlns:a="http://schemas.openxmlformats.org/drawingml/2006/main" prst="roundRect">
            <a:avLst>
              <a:gd name="adj" fmla="val 3689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9525">
            <a:solidFill>
              <a:srgbClr val="66805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775D6-BCA3-4AC7-84A6-F84CE328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67000"/>
            <a:ext cx="3086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B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16C88-2114-47C1-9ACF-2DD9C134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432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Expansion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2AC99-E5A9-4FE4-B2A5-D0E2210B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Creative planning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429BD-CDD1-4258-BBDA-16E8266C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9525"/>
            <a:ext cx="2609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Writers, designers, worldbuilders, and project leads. Paid value: companion modes, visual branching, and reusable notebooks.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2F8F0-E0AA-4163-A899-88653954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0"/>
            <a:ext cx="3086100" cy="2324100"/>
          </a:xfrm>
          <a:prstGeom xmlns:a="http://schemas.openxmlformats.org/drawingml/2006/main" prst="roundRect">
            <a:avLst>
              <a:gd name="adj" fmla="val 3689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9525">
            <a:solidFill>
              <a:srgbClr val="66805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7278A-6FCE-4926-B83A-A3FD9E9D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0"/>
            <a:ext cx="3086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33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F577F-19C9-4B22-A433-4945A16B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432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Later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79753-A88B-445F-86F8-32783C32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Education and teams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AE3EF-6614-4382-A699-F83DA5E0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9525"/>
            <a:ext cx="2609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Shared libraries, facilitator views, policy controls, and exportable evidence. Paid value: cohort workflows and governance.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17E208-BC84-40CC-BFC7-6B04702A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0012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D9E3B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F82BFD-824F-4B09-AEC8-E03820D5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5721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Commercial assumption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7559F-0D8A-4267-9C26-B98FA086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43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rPr>
              <a:t>Win one repeatable use case before adding breadth.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DFCB40-D304-4D0C-878C-49CD58B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ENCHANTED NOTEBOOK  /  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3985B5-57BF-47F5-A04F-4AE7090C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86525"/>
            <a:ext cx="2124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BUSINESS PLAN / ALPHA 0.3</a:t>
            </a:r>
          </a:p>
        </p:txBody>
      </p:sp>
    </p:spTree>
    <p:extLst>
      <p:ext uri="{BB962C8B-B14F-4D97-AF65-F5344CB8AC3E}">
        <p14:creationId xmlns:p14="http://schemas.microsoft.com/office/powerpoint/2010/main" val="1944432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EC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EFAFFE-C3C9-40B0-B9EB-D1ACCF85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F575C-34AE-42AE-B6DB-48CC2EB0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7B1F9-0CCD-4770-BE66-32FDD665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Charge for continuity, depth, and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1D5FA-F3EF-4B25-B710-89CDE953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The pricing shape should mirror the product's trust model: the free tier proves the surface, paid tiers unlock durable value, and institutions pay for governance.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B5E72-8867-45C1-9015-75499E48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3241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DCE4BD"/>
          </a:solidFill>
          <a:ln xmlns:a="http://schemas.openxmlformats.org/drawingml/2006/main" w="9525">
            <a:solidFill>
              <a:srgbClr val="8EA2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3B7DD-E7C7-411F-8F85-BC24E0E2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Free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F114E-7155-47EA-BBC9-38A36760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one notebook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5063B-0640-4F6E-ACC2-2463CB46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1847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capture + sample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38975-B268-4FCA-A9C3-A1211EEA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23241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C9D69F"/>
          </a:solidFill>
          <a:ln xmlns:a="http://schemas.openxmlformats.org/drawingml/2006/main" w="9525">
            <a:solidFill>
              <a:srgbClr val="8EA27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9AAF3-DCA0-4817-B132-94F0E1FE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99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Plus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2D254-C8C5-4550-B5FA-45E4BE83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6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personal companion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0C790-5447-4B0C-96B1-8A7897E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29075"/>
            <a:ext cx="1847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memory depth + richer media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4114B-D588-44AF-B42D-055D348C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81300"/>
            <a:ext cx="23241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9EB57C"/>
          </a:solidFill>
          <a:ln xmlns:a="http://schemas.openxmlformats.org/drawingml/2006/main" w="9525">
            <a:solidFill>
              <a:srgbClr val="8EA27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DCE46-9743-4240-82FC-E1CFDCA9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Pro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66C26-C3AF-4BDB-8F8F-03DA1EFD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creative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B5C90-967E-4A28-979A-CA56F33E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1847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multiple companions + export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9B43B-C4E4-4ADD-A507-A9030D79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23241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203227"/>
          </a:solidFill>
          <a:ln xmlns:a="http://schemas.openxmlformats.org/drawingml/2006/main" w="9525">
            <a:solidFill>
              <a:srgbClr val="8EA27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CC46E5-6ADF-4953-93E1-BBBCF8DD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Teams / Education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9FF6BE-DC84-4856-AB74-D0F43038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shared practice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0A19D-8702-43A1-8D9F-FA8FBF47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29075"/>
            <a:ext cx="1847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admin, cohorts,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C2C23-70D6-4ED7-A35A-C4E9A4E2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09650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20322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DD00D3-FDF6-4258-85B0-D8FFD44A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rPr>
              <a:t>Pricing hypothesis, to validate with activation and retention evidence before committing.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605F62-F7B1-488E-9D28-1366BDA7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ENCHANTED NOTEBOOK  /  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4C062E-D898-4E89-B49F-8606B486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86525"/>
            <a:ext cx="2124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BUSINESS PLAN / ALPHA 0.3</a:t>
            </a:r>
          </a:p>
        </p:txBody>
      </p:sp>
    </p:spTree>
    <p:extLst>
      <p:ext uri="{BB962C8B-B14F-4D97-AF65-F5344CB8AC3E}">
        <p14:creationId xmlns:p14="http://schemas.microsoft.com/office/powerpoint/2010/main" val="8569326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A45133-A50D-435B-B4F4-30653EDD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8A308-44DD-421B-AFAF-1648539D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DEFENSIBILITY AND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8756F-1E26-4A98-93CC-EDC80E7D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The moat is a trustworthy system, not a magic trick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53F51-1D12-40AA-BA00-BEE3EC06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The product can improve models without surrendering ownership of the page. That separation creates a durable path for providers, companions, and future devices.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828C0-1526-4800-8749-C14668BE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429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9525">
            <a:solidFill>
              <a:srgbClr val="6680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A3C81-8348-47DE-8B39-F86669C5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Source-preserving data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41952-D0DE-4503-BE5A-04C3BD59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81300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0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raw ink, derived text, response, and memory proposals stay separate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92A94-D5DB-4BDA-BEC4-5D6D9384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5429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9525">
            <a:solidFill>
              <a:srgbClr val="66805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68732-219A-4D2D-B226-C2300ADF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Renderer-owned 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E134F-84B1-4072-815C-AB3028B8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62350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0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providers return meaning and placement; the app owns page consistency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B69A3-329D-4F71-9F02-01E9C1F7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5429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9525">
            <a:solidFill>
              <a:srgbClr val="66805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51845-4932-4783-A09A-6851545C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Inspectability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0CEAD-6C63-42C3-AAFA-DC8E7605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43400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0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memory is notebook-scoped, source-linked, editable, and reversible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04895-8A66-4FD4-952B-06E03812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14600"/>
            <a:ext cx="4419600" cy="2876550"/>
          </a:xfrm>
          <a:prstGeom xmlns:a="http://schemas.openxmlformats.org/drawingml/2006/main" prst="roundRect">
            <a:avLst>
              <a:gd name="adj" fmla="val 3311"/>
            </a:avLst>
          </a:prstGeom>
          <a:solidFill xmlns:a="http://schemas.openxmlformats.org/drawingml/2006/main">
            <a:srgbClr val="DCE4B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23A93-147D-4FC8-9674-B2D10CBB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Roadmap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E62C3-F3FC-41C7-ADA4-1B255F1C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57550"/>
            <a:ext cx="3619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3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rPr>
              <a:t>NOW  alpha 0.3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rPr>
              <a:t>working folio, sample companion, PDF reader, quizzes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rPr>
              <a:t>NEXT  alpha 0.4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rPr>
              <a:t>recognition review, provider registry, notebook-scoped memory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rPr>
              <a:t>THEN  beta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3F553F"/>
                </a:solidFill>
                <a:latin typeface="Bitstream Charter"/>
                <a:ea typeface="Bitstream Charter"/>
                <a:cs typeface="Bitstream Charter"/>
              </a:rPr>
              <a:t>cohorts, shared libraries, companion packs, device polish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51DCB-04A4-4D26-AC6A-7FDC4AF0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ENCHANTED NOTEBOOK  /  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B6CCD-CA17-4688-B420-BB680437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86525"/>
            <a:ext cx="2124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BUSINESS PLAN / ALPHA 0.3</a:t>
            </a:r>
          </a:p>
        </p:txBody>
      </p:sp>
    </p:spTree>
    <p:extLst>
      <p:ext uri="{BB962C8B-B14F-4D97-AF65-F5344CB8AC3E}">
        <p14:creationId xmlns:p14="http://schemas.microsoft.com/office/powerpoint/2010/main" val="17940663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1EC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41BA8-B1CF-4A91-945A-D9F5671D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89B5D-C98D-4234-9B12-363929DF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THE NEXT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B751F-7E42-487F-9D06-D992E91E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Prove repeat value before adding more magic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899D6-274E-483A-8F34-EF8C9B81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The next milestone is commercial evidence: can the writing loop bring people back, and will they pay for a deeper companion relationship?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99598-1E7A-4CF5-88F3-1D12A862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D9A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D9AB6B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9110C-8648-4A78-9096-154320D0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Activation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0D960-6175-4894-ABAA-5471D1BC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813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Can a first-time user write, pause, and keep a useful response in under five minutes?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99A69-2B49-40FF-B721-E1307D24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2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D9A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D9AB6B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90101-A25C-400D-B27F-9EDFAFF1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28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Retention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75229-24C5-4F60-B0AA-8EADA804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813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Do people return to the same notebook because the companion remembers the right things?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A3031-E225-47C3-8D07-59EFD598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D9A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D9AB6B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5E4E7-C930-4F7B-8ABA-1D5D90CA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90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Conversion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01289-0EFE-4F63-914D-9F5FEDF3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433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Which depth unlock earns payment: memory, creative modes, or shared practice?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160B6-FE3A-4941-9CC7-42EA96BD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D9A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D9AB6B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E3BD3-1D6D-4849-BA17-7312C7BC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90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203227"/>
                </a:solidFill>
                <a:latin typeface="Bitstream Charter"/>
                <a:ea typeface="Bitstream Charter"/>
                <a:cs typeface="Bitstream Charter"/>
              </a:rPr>
              <a:t>Distribution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B291E-6B6F-4232-98CB-6FECC76D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433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566653"/>
                </a:solidFill>
                <a:latin typeface="Bitstream Charter"/>
                <a:ea typeface="Bitstream Charter"/>
                <a:cs typeface="Bitstream Charter"/>
              </a:rPr>
              <a:t>Can a learning or creator partner bring a cohort to the same surface?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1A9FD-C3F4-407A-A24C-1B24EFFA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3822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20322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3B861-98B4-400D-A7B8-3D55DF4A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  <a:hlinkClick xmlns:r="http://schemas.openxmlformats.org/officeDocument/2006/relationships" r:id="Ra5da768d9e384c79"/>
              </a:rPr>
              <a:t>https://enchanted-notebook-sakura.sakuraasuna.chatgpt.site/demo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D058F-7EB1-4AAC-A799-5F1F730E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4483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D9A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D9AB6B"/>
                </a:solidFill>
                <a:latin typeface="Bitstream Charter"/>
                <a:ea typeface="Bitstream Charter"/>
                <a:cs typeface="Bitstream Charter"/>
              </a:rPr>
              <a:t>live product tour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524ACA-5849-431D-A298-9DEEB060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ENCHANTED NOTEBOOK  / 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54A46-CE0D-4072-87C3-62EB198F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86525"/>
            <a:ext cx="2124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BUSINESS PLAN / ALPHA 0.3</a:t>
            </a:r>
          </a:p>
        </p:txBody>
      </p:sp>
    </p:spTree>
    <p:extLst>
      <p:ext uri="{BB962C8B-B14F-4D97-AF65-F5344CB8AC3E}">
        <p14:creationId xmlns:p14="http://schemas.microsoft.com/office/powerpoint/2010/main" val="13800294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C6A972-64E2-4446-84BD-9EA52774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1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C326B-5CC7-442B-8ED1-3E382341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SOURCES AND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35D3D-E7F0-41C9-A1FF-BC8D4DF5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Evidence used in this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5249F-B72D-4571-B024-78596D0C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Market claims are limited to public product pages accessed on 2026-09-11. Product claims come from the Build Interactive Demo artifacts and the deployed alpha surface.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C437C-EC09-4C22-A2C2-F15A00C4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Goodnotes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03DC0-736E-44C4-A021-73907551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461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Plans, Pricing &amp; Free Trial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2A9E2-3EB9-4CE9-9DC7-77A3FDE7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  <a:hlinkClick xmlns:r="http://schemas.openxmlformats.org/officeDocument/2006/relationships" r:id="Ra7c3f363fb044cb0"/>
              </a:rPr>
              <a:t>https://www.goodnotes.com/pricing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CFDAC-36BB-42DE-B019-AD2C5FB2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Notability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F0FA4-5A1F-4D7A-A21D-8DCBEC0D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9925"/>
            <a:ext cx="461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Plans tailored to you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1551E-79B7-4C06-8AA3-E778619C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99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  <a:hlinkClick xmlns:r="http://schemas.openxmlformats.org/officeDocument/2006/relationships" r:id="R1b67c08b5e124c22"/>
              </a:rPr>
              <a:t>https://notability.com/pricing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B62D5-02A6-4BCE-B6F4-E075BC99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Reflect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DD3AA-B2DA-4F0F-9E01-DE746998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48100"/>
            <a:ext cx="461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Product and pricing page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9384F-9FD4-48D7-96A5-7D91E49D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481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  <a:hlinkClick xmlns:r="http://schemas.openxmlformats.org/officeDocument/2006/relationships" r:id="Rf45b6619dbdb41dc"/>
              </a:rPr>
              <a:t>https://reflect.app/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28D0F-3CB9-43D2-9D54-316BAA5E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Day 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A5D5C-4F05-407B-B2A7-8A3037A2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86275"/>
            <a:ext cx="461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Choose a Day One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E7EF0-9189-437A-87C0-A278D0C8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862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  <a:hlinkClick xmlns:r="http://schemas.openxmlformats.org/officeDocument/2006/relationships" r:id="R8bb04924620d43d4"/>
              </a:rPr>
              <a:t>https://dayoneapp.com/plans/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5DAEE-E486-40B9-B732-42AB9342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F1ECD9"/>
                </a:solidFill>
                <a:latin typeface="Bitstream Charter"/>
                <a:ea typeface="Bitstream Charter"/>
                <a:cs typeface="Bitstream Charter"/>
              </a:rPr>
              <a:t>Project artifacts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8BE74-A0C7-4978-A6AF-33B97889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24450"/>
            <a:ext cx="461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6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B6C2AE"/>
                </a:solidFill>
                <a:latin typeface="Bitstream Charter"/>
                <a:ea typeface="Bitstream Charter"/>
                <a:cs typeface="Bitstream Charter"/>
              </a:rPr>
              <a:t>ARCHITECTURE.MD, WORKFLOW.MD, MEMORY&amp;LEARNED.MD, COMPANION_INTEGRATION.md, COMPANION_PROFILES.md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268437-A57A-4C75-96E7-536CF391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244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AABD86"/>
                </a:solidFill>
                <a:latin typeface="Bitstream Charter"/>
                <a:ea typeface="Bitstream Charter"/>
                <a:cs typeface="Bitstream Charter"/>
              </a:rPr>
              <a:t>Local project sources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6A389-C325-4906-9E9F-F9D7CD69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4775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0352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535AFE-18C8-47A4-88DB-BAC5B563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959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D9E3B4"/>
                </a:solidFill>
                <a:latin typeface="Bitstream Charter"/>
                <a:ea typeface="Bitstream Charter"/>
                <a:cs typeface="Bitstream Charter"/>
              </a:rPr>
              <a:t>Commercial values are hypotheses to validate, not guarantees.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4FB0A7-7A11-4825-8615-4E95B1C0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ENCHANTED NOTEBOOK  /  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903351-7052-4EA7-A9BB-9A456726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86525"/>
            <a:ext cx="2124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 i="0">
                <a:solidFill>
                  <a:srgbClr val="83947C"/>
                </a:solidFill>
                <a:latin typeface="Bitstream Charter"/>
                <a:ea typeface="Bitstream Charter"/>
                <a:cs typeface="Bitstream Charter"/>
              </a:rPr>
              <a:t>BUSINESS PLAN / ALPHA 0.3</a:t>
            </a:r>
          </a:p>
        </p:txBody>
      </p:sp>
    </p:spTree>
    <p:extLst>
      <p:ext uri="{BB962C8B-B14F-4D97-AF65-F5344CB8AC3E}">
        <p14:creationId xmlns:p14="http://schemas.microsoft.com/office/powerpoint/2010/main" val="724234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2026-09-11T09:22:53.6110000Z</dcterms:created>
  <dcterms:modified xsi:type="dcterms:W3CDTF">2026-09-11T09:22:53.6110000Z</dcterms:modified>
</coreProperties>
</file>